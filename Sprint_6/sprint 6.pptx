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Default ContentType="image/jpeg" Extension="jpeg"/>
  <Default ContentType="image/jpg" Extension="jpg"/>
  <Default ContentType="image/svg+xml" Extension="svg"/>
  <Default ContentType="image/png" Extension="png"/>
  <Default ContentType="image/gif" Extension="gif"/>
  <Default ContentType="video/mp4" Extension="m4v"/>
  <Default ContentType="video/mp4" Extension="mp4"/>
  <Default ContentType="application/vnd.openxmlformats-officedocument.vmlDrawing" Extension="vml"/>
  <Default ContentType="application/vnd.openxmlformats-officedocument.spreadsheetml.sheet" Extension="xlsx"/>
  <Override ContentType="application/vnd.openxmlformats-officedocument.presentationml.presentation.main+xml" PartName="/ppt/presentation.xml"/>
  <Override ContentType="application/vnd.openxmlformats-officedocument.presentationml.notesMaster+xml" PartName="/ppt/notesMasters/notesMaster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2.xml"/>
  <Override ContentType="application/vnd.openxmlformats-officedocument.presentationml.slideMaster+xml" PartName="/ppt/slideMasters/slideMaster3.xml"/>
  <Override ContentType="application/vnd.openxmlformats-officedocument.presentationml.slide+xml" PartName="/ppt/slides/slide3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5.xml"/>
  <Override ContentType="application/vnd.openxmlformats-officedocument.presentationml.slideMaster+xml" PartName="/ppt/slideMasters/slideMaster6.xml"/>
  <Override ContentType="application/vnd.openxmlformats-officedocument.presentationml.slide+xml" PartName="/ppt/slides/slide6.xml"/>
  <Override ContentType="application/vnd.openxmlformats-officedocument.presentationml.slideMaster+xml" PartName="/ppt/slideMasters/slideMaster7.xml"/>
  <Override ContentType="application/vnd.openxmlformats-officedocument.presentationml.slide+xml" PartName="/ppt/slides/slide7.xml"/>
  <Override ContentType="application/vnd.openxmlformats-officedocument.presentationml.slideMaster+xml" PartName="/ppt/slideMasters/slideMaster8.xml"/>
  <Override ContentType="application/vnd.openxmlformats-officedocument.presentationml.slide+xml" PartName="/ppt/slides/slide8.xml"/>
  <Override ContentType="application/vnd.openxmlformats-officedocument.presentationml.slideMaster+xml" PartName="/ppt/slideMasters/slideMaster9.xml"/>
  <Override ContentType="application/vnd.openxmlformats-officedocument.presentationml.slide+xml" PartName="/ppt/slides/slide9.xml"/>
  <Override ContentType="application/vnd.openxmlformats-officedocument.presentationml.slideMaster+xml" PartName="/ppt/slideMasters/slideMaster10.xml"/>
  <Override ContentType="application/vnd.openxmlformats-officedocument.presentationml.slide+xml" PartName="/ppt/slides/slide10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
		<Relationship Id="rId1" Target="docProps/app.xml" Type="http://schemas.openxmlformats.org/officeDocument/2006/relationships/extended-properties"/>
		<Relationship Id="rId2" Target="docProps/core.xml" Type="http://schemas.openxmlformats.org/package/2006/relationships/metadata/core-properties"/>
		<Relationship Id="rId3" Target="ppt/presentation.xml" Type="http://schemas.openxmlformats.org/officeDocument/2006/relationships/officeDocument"/>
		<Relationship Id="rId4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ter Bold"/>
      <p:regular r:id="rId201314"/>
    </p:embeddedFont>
    <p:embeddedFont>
      <p:font typeface="Inter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arget="../media/image-1-1.jpeg" Type="http://schemas.openxmlformats.org/officeDocument/2006/relationships/image"/><Relationship Id="rId2" Target="../slideLayouts/slideLayout2.xml" Type="http://schemas.openxmlformats.org/officeDocument/2006/relationships/slideLayout"/><Relationship Id="rId3" Target="../notesSlides/notesSlide1.xml" Type="http://schemas.openxmlformats.org/officeDocument/2006/relationships/notesSlide"/></Relationships>
</file>

<file path=ppt/slides/_rels/slide2.xml.rels><?xml version="1.0" encoding="UTF-8" standalone="yes" ?><Relationships xmlns="http://schemas.openxmlformats.org/package/2006/relationships"><Relationship Id="rId1" Target="../media/image-2-1.jpeg" Type="http://schemas.openxmlformats.org/officeDocument/2006/relationships/image"/><Relationship Id="rId2" Target="../slideLayouts/slideLayout2.xml" Type="http://schemas.openxmlformats.org/officeDocument/2006/relationships/slideLayout"/><Relationship Id="rId3" Target="../notesSlides/notesSlide2.xml" Type="http://schemas.openxmlformats.org/officeDocument/2006/relationships/notesSlide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 ?><Relationships xmlns="http://schemas.openxmlformats.org/package/2006/relationships"><Relationship Id="rId1" Target="../media/image-4-1.jpeg" Type="http://schemas.openxmlformats.org/officeDocument/2006/relationships/image"/><Relationship Id="rId2" Target="../media/image-4-2.png" Type="http://schemas.openxmlformats.org/officeDocument/2006/relationships/image"/><Relationship Id="rId3" Target="../media/image-4-3.svg" Type="http://schemas.openxmlformats.org/officeDocument/2006/relationships/image"/><Relationship Id="rId4" Target="../media/image-4-4.png" Type="http://schemas.openxmlformats.org/officeDocument/2006/relationships/image"/><Relationship Id="rId5" Target="../media/image-4-5.svg" Type="http://schemas.openxmlformats.org/officeDocument/2006/relationships/image"/><Relationship Id="rId6" Target="../media/image-4-6.png" Type="http://schemas.openxmlformats.org/officeDocument/2006/relationships/image"/><Relationship Id="rId7" Target="../media/image-4-7.svg" Type="http://schemas.openxmlformats.org/officeDocument/2006/relationships/image"/><Relationship Id="rId8" Target="../slideLayouts/slideLayout2.xml" Type="http://schemas.openxmlformats.org/officeDocument/2006/relationships/slideLayout"/><Relationship Id="rId9" Target="../notesSlides/notesSlide4.xml" Type="http://schemas.openxmlformats.org/officeDocument/2006/relationships/notesSlide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 ?><Relationships xmlns="http://schemas.openxmlformats.org/package/2006/relationships"><Relationship Id="rId1" Target="../media/image-7-1.jpeg" Type="http://schemas.openxmlformats.org/officeDocument/2006/relationships/image"/><Relationship Id="rId2" Target="../media/image-7-2.png" Type="http://schemas.openxmlformats.org/officeDocument/2006/relationships/image"/><Relationship Id="rId3" Target="../media/image-7-3.svg" Type="http://schemas.openxmlformats.org/officeDocument/2006/relationships/image"/><Relationship Id="rId4" Target="../media/image-7-4.png" Type="http://schemas.openxmlformats.org/officeDocument/2006/relationships/image"/><Relationship Id="rId5" Target="../media/image-7-5.svg" Type="http://schemas.openxmlformats.org/officeDocument/2006/relationships/image"/><Relationship Id="rId6" Target="../media/image-7-6.png" Type="http://schemas.openxmlformats.org/officeDocument/2006/relationships/image"/><Relationship Id="rId7" Target="../media/image-7-7.svg" Type="http://schemas.openxmlformats.org/officeDocument/2006/relationships/image"/><Relationship Id="rId8" Target="../slideLayouts/slideLayout2.xml" Type="http://schemas.openxmlformats.org/officeDocument/2006/relationships/slideLayout"/><Relationship Id="rId9" Target="../notesSlides/notesSlide7.xml" Type="http://schemas.openxmlformats.org/officeDocument/2006/relationships/notesSlide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 ?><Relationships xmlns="http://schemas.openxmlformats.org/package/2006/relationships"><Relationship Id="rId1" Target="../media/image-9-1.jpeg" Type="http://schemas.openxmlformats.org/officeDocument/2006/relationships/image"/><Relationship Id="rId2" Target="../media/image-9-2.png" Type="http://schemas.openxmlformats.org/officeDocument/2006/relationships/image"/><Relationship Id="rId3" Target="../slideLayouts/slideLayout2.xml" Type="http://schemas.openxmlformats.org/officeDocument/2006/relationships/slideLayout"/><Relationship Id="rId4" Target="../notesSlides/notesSlide9.xml" Type="http://schemas.openxmlformats.org/officeDocument/2006/relationships/notesSlide"/></Relationships>
</file>

<file path=ppt/slides/_rels/slide10.xml.rels><?xml version="1.0" encoding="UTF-8" standalone="yes" ?><Relationships xmlns="http://schemas.openxmlformats.org/package/2006/relationships"><Relationship Id="rId1" Target="../media/image-10-1.jpeg" Type="http://schemas.openxmlformats.org/officeDocument/2006/relationships/image"/><Relationship Id="rId2" Target="../media/image-10-2.png" Type="http://schemas.openxmlformats.org/officeDocument/2006/relationships/image"/><Relationship Id="rId3" Target="../media/image-10-3.svg" Type="http://schemas.openxmlformats.org/officeDocument/2006/relationships/image"/><Relationship Id="rId4" Target="../media/image-10-4.png" Type="http://schemas.openxmlformats.org/officeDocument/2006/relationships/image"/><Relationship Id="rId5" Target="../media/image-10-5.svg" Type="http://schemas.openxmlformats.org/officeDocument/2006/relationships/image"/><Relationship Id="rId6" Target="../media/image-10-6.png" Type="http://schemas.openxmlformats.org/officeDocument/2006/relationships/image"/><Relationship Id="rId7" Target="../media/image-10-7.svg" Type="http://schemas.openxmlformats.org/officeDocument/2006/relationships/image"/><Relationship Id="rId8" Target="../slideLayouts/slideLayout2.xml" Type="http://schemas.openxmlformats.org/officeDocument/2006/relationships/slideLayout"/><Relationship Id="rId9" Target="../notesSlides/notesSlide10.xml" Type="http://schemas.openxmlformats.org/officeDocument/2006/relationships/notesSlide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Excel Mastery: Automating the Modern Workflow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6 — Practical Formula Applications for Employee Performance, Sales Tracking, Attendance Monitoring &amp; Automated Decision-Making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5818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Hidden Cost of Manual Tracking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656755"/>
            <a:ext cx="2290465" cy="1733624"/>
          </a:xfrm>
          <a:prstGeom prst="roundRect">
            <a:avLst>
              <a:gd name="adj" fmla="val 343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71640" y="1803276"/>
            <a:ext cx="18542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Data Entry Fatigue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71640" y="2109788"/>
            <a:ext cx="1997422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input leads to critical errors that compound over time, undermining report accuracy and decision quality.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1656755"/>
            <a:ext cx="2290539" cy="1733624"/>
          </a:xfrm>
          <a:prstGeom prst="roundRect">
            <a:avLst>
              <a:gd name="adj" fmla="val 343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03863" y="180327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⏳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Lost Hours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503863" y="2109788"/>
            <a:ext cx="199749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average analyst spends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30% of their time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 manual formatting instead of analysis and strategy.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3532138"/>
            <a:ext cx="4722763" cy="105318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71640" y="367865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🎯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The Goal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71640" y="3985171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Transition from reactive record-keeping to proactive, automated insight generation.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6261"/>
            <a:ext cx="5252442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Power of Conditional Logic</a:t>
            </a:r>
            <a:endParaRPr lang="en-US" sz="2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82613"/>
            <a:ext cx="5190753" cy="29413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99708" y="1110630"/>
            <a:ext cx="2652861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 tables tell you what happened. Conditional formulas tell you </a:t>
            </a:r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means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85421" y="1619027"/>
            <a:ext cx="2667149" cy="97259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83064" y="1759521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IF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183064" y="2069232"/>
            <a:ext cx="2329011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Classify and route data based on conditions</a:t>
            </a:r>
            <a:endParaRPr lang="en-US" sz="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85421" y="2704058"/>
            <a:ext cx="2667149" cy="78164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183064" y="2844552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SUMIF / COUNTIF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183064" y="3154263"/>
            <a:ext cx="2329011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Aggregate single-criteria data instantly</a:t>
            </a:r>
            <a:endParaRPr lang="en-US" sz="9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85421" y="3598143"/>
            <a:ext cx="2667149" cy="97259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183064" y="3738637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SUMIFS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6183064" y="4048348"/>
            <a:ext cx="2329011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Multi-criteria aggregation for complex reports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56679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Employee Performance: The Scorecard Shift</a:t>
            </a:r>
            <a:endParaRPr lang="en-US" sz="2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394520"/>
            <a:ext cx="248022" cy="24802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925119" y="1778198"/>
            <a:ext cx="249242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Automated Performance Indexes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3925119" y="2037159"/>
            <a:ext cx="4722763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AVERAGEIF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calculate department-specific averages without manual filtering.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626296"/>
            <a:ext cx="248022" cy="24802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925119" y="3009974"/>
            <a:ext cx="224380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Instant Underperformer Flags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3925119" y="3268935"/>
            <a:ext cx="4722763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Conditional Formatting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rules to highlight below-threshold scores in real time.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858071"/>
            <a:ext cx="248022" cy="24802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925119" y="4241750"/>
            <a:ext cx="182731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Benchmark Comparison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3925119" y="4500711"/>
            <a:ext cx="472276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individual output against department-wide benchmarks automatically.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601660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Sales Tracking: Beyond the Sum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35379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Projections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VLOOKUP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XLOOKUP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pull live sales data into dynamic dashboards — no manual updates required.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440484"/>
            <a:ext cx="275391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Month-to-Date vs. Actuals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2803699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targets against actuals in a single view, with pivot charts visualizing growth trajectories automatically.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9043"/>
            <a:ext cx="6668021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Attendance Monitoring: Precision Matters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68772"/>
            <a:ext cx="5194622" cy="29435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92713" y="1094482"/>
            <a:ext cx="24363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5992713" y="1287214"/>
            <a:ext cx="2659931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6" name="Text 3"/>
          <p:cNvSpPr/>
          <p:nvPr/>
        </p:nvSpPr>
        <p:spPr>
          <a:xfrm>
            <a:off x="5992713" y="1376660"/>
            <a:ext cx="2659931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Automate Logs with COUNTA &amp; COUNTIF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992713" y="1861989"/>
            <a:ext cx="2659931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 present, absent, and late entries automatically from raw check-in data.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92713" y="2420317"/>
            <a:ext cx="24363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992713" y="2613050"/>
            <a:ext cx="2659931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7"/>
          <p:cNvSpPr/>
          <p:nvPr/>
        </p:nvSpPr>
        <p:spPr>
          <a:xfrm>
            <a:off x="5992713" y="2702496"/>
            <a:ext cx="214513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Identify Absenteeism Trends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992713" y="2997473"/>
            <a:ext cx="2659931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Spot recurring patterns before they impact team output and project timelines.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992713" y="3555802"/>
            <a:ext cx="24363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92713" y="3748534"/>
            <a:ext cx="2659931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4" name="Text 11"/>
          <p:cNvSpPr/>
          <p:nvPr/>
        </p:nvSpPr>
        <p:spPr>
          <a:xfrm>
            <a:off x="5992713" y="3837980"/>
            <a:ext cx="2165598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Compliance Threshold Alerts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992713" y="4132957"/>
            <a:ext cx="2659931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 visual warnings when attendance falls below policy-defined limits.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09439"/>
            <a:ext cx="5101456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Automated Decision-Making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3925119" y="1111597"/>
            <a:ext cx="2299097" cy="1904926"/>
          </a:xfrm>
          <a:prstGeom prst="roundRect">
            <a:avLst>
              <a:gd name="adj" fmla="val 293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062785" y="1249263"/>
            <a:ext cx="398711" cy="398711"/>
          </a:xfrm>
          <a:prstGeom prst="roundRect">
            <a:avLst>
              <a:gd name="adj" fmla="val 14332257"/>
            </a:avLst>
          </a:prstGeom>
          <a:solidFill>
            <a:srgbClr val="4950B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72396" y="1358875"/>
            <a:ext cx="179412" cy="1794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62785" y="1772543"/>
            <a:ext cx="1735708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Nested IF Statements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062785" y="2054944"/>
            <a:ext cx="2023765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Classify data into multiple tiers — Excellent, Good, Needs Improvement — in a single formula.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348785" y="1111597"/>
            <a:ext cx="2299097" cy="1904926"/>
          </a:xfrm>
          <a:prstGeom prst="roundRect">
            <a:avLst>
              <a:gd name="adj" fmla="val 293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486451" y="1249263"/>
            <a:ext cx="398711" cy="398711"/>
          </a:xfrm>
          <a:prstGeom prst="roundRect">
            <a:avLst>
              <a:gd name="adj" fmla="val 14332257"/>
            </a:avLst>
          </a:prstGeom>
          <a:solidFill>
            <a:srgbClr val="4950BC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96063" y="1358875"/>
            <a:ext cx="179412" cy="1794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86451" y="1772543"/>
            <a:ext cx="1987451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Reasonableness Checks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486451" y="2054944"/>
            <a:ext cx="2023765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validation logic that flags outliers and inconsistencies before they reach stakeholders.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3925119" y="3141092"/>
            <a:ext cx="4722763" cy="1492969"/>
          </a:xfrm>
          <a:prstGeom prst="roundRect">
            <a:avLst>
              <a:gd name="adj" fmla="val 373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062785" y="3278758"/>
            <a:ext cx="398711" cy="398711"/>
          </a:xfrm>
          <a:prstGeom prst="roundRect">
            <a:avLst>
              <a:gd name="adj" fmla="val 14332257"/>
            </a:avLst>
          </a:prstGeom>
          <a:solidFill>
            <a:srgbClr val="4950BC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72396" y="3388370"/>
            <a:ext cx="179412" cy="1794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062785" y="3802038"/>
            <a:ext cx="1788170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Visual Status Updates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4062785" y="4084439"/>
            <a:ext cx="444743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 data-driven decisions that trigger color-coded status indicators automatically.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60562"/>
            <a:ext cx="487546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Toolkit for Every Role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887066"/>
            <a:ext cx="1507480" cy="9316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99591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Integrity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302422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Validation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list boxes to prevent entry errors before they happen.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1887066"/>
            <a:ext cx="1507480" cy="9316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99591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Efficiency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3302422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Leverage the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Formulas tab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audit, trace, and debug complex calculations with confidence.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1887066"/>
            <a:ext cx="1507480" cy="93166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99591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Security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3302422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 sensitive performance and HR data with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workbook passwords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sheet-level restrictions.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912" y="393502"/>
            <a:ext cx="517929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Before &amp; After: The Transformation</a:t>
            </a:r>
            <a:endParaRPr lang="en-US" sz="2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912" y="966713"/>
            <a:ext cx="3685952" cy="36859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11750" y="2125935"/>
            <a:ext cx="18415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Scaling Success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711750" y="2385417"/>
            <a:ext cx="3685952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 isn't just about saving time — it's about </a:t>
            </a:r>
            <a:pPr algn="l" indent="0" marL="0">
              <a:lnSpc>
                <a:spcPct val="119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empowering teams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spend less time calculating and more time executing strategy.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4711750" y="2956024"/>
            <a:ext cx="3685952" cy="526554"/>
          </a:xfrm>
          <a:prstGeom prst="roundRect">
            <a:avLst>
              <a:gd name="adj" fmla="val 8834"/>
            </a:avLst>
          </a:prstGeom>
          <a:solidFill>
            <a:srgbClr val="B6FCB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478" y="3116610"/>
            <a:ext cx="138410" cy="1107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71616" y="3061543"/>
            <a:ext cx="3215357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 that automate reporting reclaim an average of 8+ hours per week for high-value work.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820192"/>
            <a:ext cx="470192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Your Data, Your Strategy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250" y="1480170"/>
            <a:ext cx="212601" cy="2126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56816" y="1475780"/>
            <a:ext cx="266580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Excel Is Your Swiss Army Knife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956816" y="1782291"/>
            <a:ext cx="42620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performance scorecards to sales dashboards, the right formula solves the right problem.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9250" y="2523827"/>
            <a:ext cx="212601" cy="21260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56816" y="2519437"/>
            <a:ext cx="18915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Start Small This Week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956816" y="2825948"/>
            <a:ext cx="42620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process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 performance index, an attendance count, a sales lookup. Build from there.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9250" y="3567485"/>
            <a:ext cx="212601" cy="21260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56816" y="3563094"/>
            <a:ext cx="182001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Turn Data Into Action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956816" y="3869606"/>
            <a:ext cx="42620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final competitive advantage is the ability to tell a story that leads to decisions.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2026-06-20T15:16:32Z</dcterms:created>
  <dcterms:modified xsi:type="dcterms:W3CDTF">2026-06-20T15:16:32Z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3031407</vt:lpwstr>
  </property>
  <property fmtid="{D5CDD505-2E9C-101B-9397-08002B2CF9AE}" name="NXPowerLiteSettings" pid="3">
    <vt:lpwstr>F7000400038000</vt:lpwstr>
  </property>
  <property fmtid="{D5CDD505-2E9C-101B-9397-08002B2CF9AE}" name="NXPowerLiteVersion" pid="4">
    <vt:lpwstr>S11.0.1</vt:lpwstr>
  </property>
</Properties>
</file>