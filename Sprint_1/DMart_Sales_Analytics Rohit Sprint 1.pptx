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1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5C2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5C2B"/>
                </a:solidFill>
                <a:latin typeface="Arial"/>
              </a:rPr>
              <a:t>Sales by Region (₹ Lakhs)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Lakhs)</c:v>
                </c:pt>
              </c:strCache>
            </c:strRef>
          </c:tx>
          <c:spPr>
            <a:solidFill>
              <a:srgbClr val="00843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84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E5-4EF4-B8C4-382A6812DB97}"/>
              </c:ext>
            </c:extLst>
          </c:dPt>
          <c:dPt>
            <c:idx val="1"/>
            <c:invertIfNegative val="0"/>
            <c:bubble3D val="0"/>
            <c:spPr>
              <a:solidFill>
                <a:srgbClr val="00A8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E5-4EF4-B8C4-382A6812DB97}"/>
              </c:ext>
            </c:extLst>
          </c:dPt>
          <c:dPt>
            <c:idx val="2"/>
            <c:invertIfNegative val="0"/>
            <c:bubble3D val="0"/>
            <c:spPr>
              <a:solidFill>
                <a:srgbClr val="33B5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E5-4EF4-B8C4-382A6812DB97}"/>
              </c:ext>
            </c:extLst>
          </c:dPt>
          <c:dPt>
            <c:idx val="3"/>
            <c:invertIfNegative val="0"/>
            <c:bubble3D val="0"/>
            <c:spPr>
              <a:solidFill>
                <a:srgbClr val="66C9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CE5-4EF4-B8C4-382A6812DB97}"/>
              </c:ext>
            </c:extLst>
          </c:dPt>
          <c:dPt>
            <c:idx val="4"/>
            <c:invertIfNegative val="0"/>
            <c:bubble3D val="0"/>
            <c:spPr>
              <a:solidFill>
                <a:srgbClr val="99DE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CE5-4EF4-B8C4-382A6812DB9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West</c:v>
                </c:pt>
                <c:pt idx="1">
                  <c:v>North</c:v>
                </c:pt>
                <c:pt idx="2">
                  <c:v>South</c:v>
                </c:pt>
                <c:pt idx="3">
                  <c:v>East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380</c:v>
                </c:pt>
                <c:pt idx="1">
                  <c:v>290</c:v>
                </c:pt>
                <c:pt idx="2">
                  <c:v>260</c:v>
                </c:pt>
                <c:pt idx="3">
                  <c:v>190</c:v>
                </c:pt>
                <c:pt idx="4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CE5-4EF4-B8C4-382A6812DB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5C2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5C2B"/>
                </a:solidFill>
                <a:latin typeface="Arial"/>
              </a:rPr>
              <a:t>Category Mix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84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29F-4D10-B9DF-296B1F394BCA}"/>
              </c:ext>
            </c:extLst>
          </c:dPt>
          <c:dPt>
            <c:idx val="1"/>
            <c:bubble3D val="0"/>
            <c:spPr>
              <a:solidFill>
                <a:srgbClr val="00A8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9F-4D10-B9DF-296B1F394BCA}"/>
              </c:ext>
            </c:extLst>
          </c:dPt>
          <c:dPt>
            <c:idx val="2"/>
            <c:bubble3D val="0"/>
            <c:spPr>
              <a:solidFill>
                <a:srgbClr val="33B5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29F-4D10-B9DF-296B1F394BCA}"/>
              </c:ext>
            </c:extLst>
          </c:dPt>
          <c:dPt>
            <c:idx val="3"/>
            <c:bubble3D val="0"/>
            <c:spPr>
              <a:solidFill>
                <a:srgbClr val="FFC1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29F-4D10-B9DF-296B1F394BCA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29F-4D10-B9DF-296B1F394BC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29F-4D10-B9DF-296B1F394BC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29F-4D10-B9DF-296B1F394BC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29F-4D10-B9DF-296B1F394BC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29F-4D10-B9DF-296B1F394BC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29F-4D10-B9DF-296B1F394BC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Grocery</c:v>
                </c:pt>
                <c:pt idx="1">
                  <c:v>Electronics</c:v>
                </c:pt>
                <c:pt idx="2">
                  <c:v>Apparel</c:v>
                </c:pt>
                <c:pt idx="3">
                  <c:v>Home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29F-4D10-B9DF-296B1F394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03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D-Mart project, objectives, and the dataset overview. Highlight that this is a data-driven performance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KPI card. Emphasize sales-profit gap suggesting discount pressure. Bar chart shows West region dominates. Donut shows Grocery as top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5W framework to align stakeholders on the problem scope. Emphasize the WHERE and WHEN dimensions as key drivers of analytical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5-Why analysis traces profit issues to lack of data-driven planning. Root cause: reliance on reactive discounting without demand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BCG Matrix positions categories for strategic investment decisions. Stars and Cash Cows should receive priority resourcing. Insights panel shows critical findings for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call to action on all 4 recommendations. The roadmap shows a 7-month execution plan. Reinforce that data-driven culture is the long-term competitive advantage for D-Mart.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4140"/>
            <a:ext cx="3840480" cy="514350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  <p:txBody>
          <a:bodyPr/>
          <a:lstStyle/>
          <a:p>
            <a:r>
              <a:rPr lang="en-US" kern="0" spc="300" dirty="0">
                <a:solidFill>
                  <a:srgbClr val="A8E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EXCELLENCE</a:t>
            </a:r>
            <a:endParaRPr lang="en-US" dirty="0"/>
          </a:p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63880" y="488216"/>
            <a:ext cx="2926080" cy="2926080"/>
          </a:xfrm>
          <a:prstGeom prst="ellipse">
            <a:avLst/>
          </a:prstGeom>
          <a:solidFill>
            <a:srgbClr val="005C2B">
              <a:alpha val="60000"/>
            </a:srgbClr>
          </a:solidFill>
          <a:ln w="25400">
            <a:solidFill>
              <a:srgbClr val="00A84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923544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4231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D-MART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82880" y="3895344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005C2B"/>
          </a:solidFill>
          <a:ln w="12700">
            <a:solidFill>
              <a:srgbClr val="00A84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28600" y="3858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 Cr Total Sales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" y="4370832"/>
            <a:ext cx="3383280" cy="402336"/>
          </a:xfrm>
          <a:prstGeom prst="roundRect">
            <a:avLst>
              <a:gd name="adj" fmla="val 11364"/>
            </a:avLst>
          </a:prstGeom>
          <a:solidFill>
            <a:srgbClr val="005C2B"/>
          </a:solidFill>
          <a:ln w="12700">
            <a:solidFill>
              <a:srgbClr val="00A8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4389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Profit Margin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8229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E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Dashboard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13258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D-Mart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114800" y="2834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for Business Growth &amp; Operational Excellence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114800" y="3520440"/>
            <a:ext cx="36576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3730752"/>
            <a:ext cx="1417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05172" y="4102278"/>
            <a:ext cx="1417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187184" y="3730752"/>
            <a:ext cx="1417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14800" y="4480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&amp; Business Summary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105156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15568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15361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₹12.4 Cr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320040" y="19476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20040" y="21762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E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+8.2% YoY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441448" y="105156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111556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32888" y="15361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₹2.2 Cr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2532888" y="19476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2532888" y="21762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Margin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654296" y="105156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111556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45736" y="15361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48,320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4745736" y="19476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745736" y="21762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Regions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867144" y="105156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304" y="1115568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58584" y="15361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14.3%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6958584" y="19476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958584" y="217627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Products</a:t>
            </a:r>
            <a:endParaRPr lang="en-US" sz="9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228600" y="2633472"/>
          <a:ext cx="53035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Chart 1"/>
          <p:cNvGraphicFramePr/>
          <p:nvPr/>
        </p:nvGraphicFramePr>
        <p:xfrm>
          <a:off x="5669280" y="2633472"/>
          <a:ext cx="32461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5W Analysis Framework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Business Problem Understanding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82880" y="105156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2880" y="1051560"/>
            <a:ext cx="640080" cy="502920"/>
          </a:xfrm>
          <a:prstGeom prst="roundRect">
            <a:avLst>
              <a:gd name="adj" fmla="val 9091"/>
            </a:avLst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1124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16459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D-Mart sales patterns to identify profit leakages, top-performing regions, and category trends across the retail network.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54680" y="105156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051560"/>
            <a:ext cx="640080" cy="502920"/>
          </a:xfrm>
          <a:prstGeom prst="roundRect">
            <a:avLst>
              <a:gd name="adj" fmla="val 9091"/>
            </a:avLst>
          </a:prstGeom>
          <a:solidFill>
            <a:srgbClr val="00A84F"/>
          </a:solidFill>
          <a:ln w="12700">
            <a:solidFill>
              <a:srgbClr val="00A8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5468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886200" y="1124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46120" y="16459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enables data-driven decisions to optimize discounts, improve margins, and grow revenue sustainably.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26480" y="105156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1051560"/>
            <a:ext cx="640080" cy="502920"/>
          </a:xfrm>
          <a:prstGeom prst="roundRect">
            <a:avLst>
              <a:gd name="adj" fmla="val 9091"/>
            </a:avLst>
          </a:prstGeom>
          <a:solidFill>
            <a:srgbClr val="008040"/>
          </a:solidFill>
          <a:ln w="12700">
            <a:solidFill>
              <a:srgbClr val="00804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0" y="1124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17920" y="16459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Managers, Regional Heads, Finance Teams, Supply Chain, Category Buyers &amp; Senior Leadership.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82880" y="3017520"/>
            <a:ext cx="4297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82880" y="3017520"/>
            <a:ext cx="640080" cy="502920"/>
          </a:xfrm>
          <a:prstGeom prst="roundRect">
            <a:avLst>
              <a:gd name="adj" fmla="val 9091"/>
            </a:avLst>
          </a:prstGeom>
          <a:solidFill>
            <a:srgbClr val="006030"/>
          </a:solidFill>
          <a:ln w="12700">
            <a:solidFill>
              <a:srgbClr val="0060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2880" y="30175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14400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6118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West, North, South, East &amp; Central regions — covering Tier-1 cities like Mumbai, Delhi, Bengaluru, and emerging markets.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63440" y="3017520"/>
            <a:ext cx="4297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63440" y="3017520"/>
            <a:ext cx="640080" cy="502920"/>
          </a:xfrm>
          <a:prstGeom prst="roundRect">
            <a:avLst>
              <a:gd name="adj" fmla="val 9091"/>
            </a:avLst>
          </a:prstGeom>
          <a:solidFill>
            <a:srgbClr val="004020"/>
          </a:solidFill>
          <a:ln w="12700">
            <a:solidFill>
              <a:srgbClr val="00402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30175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394960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Dimension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54880" y="36118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seasons: Diwali (Q3), New Year (Q4). Weekly spikes on weekends. Monthly analysis reveals discount abuse cycles.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C2B"/>
          </a:solidFill>
          <a:ln w="12700">
            <a:solidFill>
              <a:srgbClr val="005C2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Low Profitability Despite Strong Sales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1051560"/>
            <a:ext cx="8686800" cy="548640"/>
          </a:xfrm>
          <a:prstGeom prst="roundRect">
            <a:avLst>
              <a:gd name="adj" fmla="val 13333"/>
            </a:avLst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6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LOW PROFITABILITY  —  Root Cause Tree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28600" y="1737360"/>
            <a:ext cx="914400" cy="475488"/>
          </a:xfrm>
          <a:prstGeom prst="roundRect">
            <a:avLst>
              <a:gd name="adj" fmla="val 11538"/>
            </a:avLst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173736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34440" y="173736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17373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Discounts Reducing Revenue Per Unit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1810512"/>
            <a:ext cx="3017520" cy="329184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8105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promotional offers during slow periods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" y="2212848"/>
            <a:ext cx="0" cy="164592"/>
          </a:xfrm>
          <a:prstGeom prst="line">
            <a:avLst/>
          </a:prstGeom>
          <a:noFill/>
          <a:ln w="25400">
            <a:solidFill>
              <a:srgbClr val="0084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" y="2377440"/>
            <a:ext cx="914400" cy="475488"/>
          </a:xfrm>
          <a:prstGeom prst="roundRect">
            <a:avLst>
              <a:gd name="adj" fmla="val 11538"/>
            </a:avLst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2377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234440" y="237744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80160" y="23774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Promotional Offers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2450592"/>
            <a:ext cx="3017520" cy="329184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245059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clearance pressure from overstock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85800" y="2852928"/>
            <a:ext cx="0" cy="164592"/>
          </a:xfrm>
          <a:prstGeom prst="line">
            <a:avLst/>
          </a:prstGeom>
          <a:noFill/>
          <a:ln w="25400">
            <a:solidFill>
              <a:srgbClr val="0084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8600" y="3017520"/>
            <a:ext cx="914400" cy="475488"/>
          </a:xfrm>
          <a:prstGeom prst="roundRect">
            <a:avLst>
              <a:gd name="adj" fmla="val 11538"/>
            </a:avLst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8600" y="3017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234440" y="301752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30175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Inventory Planning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97880" y="3090672"/>
            <a:ext cx="3017520" cy="329184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0" y="30906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demand signals from legacy systems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85800" y="3493008"/>
            <a:ext cx="0" cy="164592"/>
          </a:xfrm>
          <a:prstGeom prst="line">
            <a:avLst/>
          </a:prstGeom>
          <a:noFill/>
          <a:ln w="25400">
            <a:solidFill>
              <a:srgbClr val="00843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8600" y="3657600"/>
            <a:ext cx="914400" cy="475488"/>
          </a:xfrm>
          <a:prstGeom prst="roundRect">
            <a:avLst>
              <a:gd name="adj" fmla="val 11538"/>
            </a:avLst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8600" y="36576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234440" y="365760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80160" y="365760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Demand Forecasting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97880" y="3730752"/>
            <a:ext cx="3017520" cy="329184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0" y="37307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ML/data models for seasonal prediction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85800" y="4133088"/>
            <a:ext cx="0" cy="164592"/>
          </a:xfrm>
          <a:prstGeom prst="line">
            <a:avLst/>
          </a:prstGeom>
          <a:noFill/>
          <a:ln w="25400">
            <a:solidFill>
              <a:srgbClr val="00843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28600" y="4297680"/>
            <a:ext cx="914400" cy="475488"/>
          </a:xfrm>
          <a:prstGeom prst="roundRect">
            <a:avLst>
              <a:gd name="adj" fmla="val 11538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28600" y="42976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234440" y="4297680"/>
            <a:ext cx="4572000" cy="475488"/>
          </a:xfrm>
          <a:prstGeom prst="roundRect">
            <a:avLst>
              <a:gd name="adj" fmla="val 11538"/>
            </a:avLst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280160" y="42976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Planning Culture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897880" y="4370832"/>
            <a:ext cx="3017520" cy="329184"/>
          </a:xfrm>
          <a:prstGeom prst="rect">
            <a:avLst/>
          </a:prstGeom>
          <a:solidFill>
            <a:srgbClr val="F4F4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0" y="4370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Reactive Operations &amp; Discount Dependency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BCG Matrix — Category Portfolio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Mapped by Sales Growth vs. Profit Contribution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057400" cy="1965960"/>
          </a:xfrm>
          <a:prstGeom prst="rect">
            <a:avLst/>
          </a:prstGeom>
          <a:solidFill>
            <a:srgbClr val="E8F5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65760" y="1078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STARS 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13533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Growth · High Profit</a:t>
            </a:r>
            <a:endParaRPr lang="en-US" sz="1200" b="1" dirty="0"/>
          </a:p>
        </p:txBody>
      </p:sp>
      <p:sp>
        <p:nvSpPr>
          <p:cNvPr id="9" name="Shape 6"/>
          <p:cNvSpPr/>
          <p:nvPr/>
        </p:nvSpPr>
        <p:spPr>
          <a:xfrm>
            <a:off x="2331720" y="1005840"/>
            <a:ext cx="2057400" cy="1965960"/>
          </a:xfrm>
          <a:prstGeom prst="rect">
            <a:avLst/>
          </a:prstGeom>
          <a:solidFill>
            <a:srgbClr val="FFFD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423160" y="1078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MARKS 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23160" y="13533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Growth · Low Profit</a:t>
            </a:r>
            <a:endParaRPr lang="en-US" sz="1200" b="1" dirty="0"/>
          </a:p>
        </p:txBody>
      </p:sp>
      <p:sp>
        <p:nvSpPr>
          <p:cNvPr id="12" name="Shape 9"/>
          <p:cNvSpPr/>
          <p:nvPr/>
        </p:nvSpPr>
        <p:spPr>
          <a:xfrm>
            <a:off x="283464" y="2922208"/>
            <a:ext cx="2057400" cy="196596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65760" y="30449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COWS 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5760" y="33192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Growth · High Profit</a:t>
            </a:r>
            <a:endParaRPr lang="en-US" sz="1200" b="1" dirty="0"/>
          </a:p>
        </p:txBody>
      </p:sp>
      <p:sp>
        <p:nvSpPr>
          <p:cNvPr id="15" name="Shape 12"/>
          <p:cNvSpPr/>
          <p:nvPr/>
        </p:nvSpPr>
        <p:spPr>
          <a:xfrm>
            <a:off x="2322576" y="2903220"/>
            <a:ext cx="2057400" cy="196596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423160" y="30449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DOGS 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423160" y="33192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Growth · Low Profit</a:t>
            </a:r>
            <a:endParaRPr lang="en-US" sz="1200" b="1" dirty="0"/>
          </a:p>
        </p:txBody>
      </p:sp>
      <p:sp>
        <p:nvSpPr>
          <p:cNvPr id="19" name="Text 16"/>
          <p:cNvSpPr/>
          <p:nvPr/>
        </p:nvSpPr>
        <p:spPr>
          <a:xfrm>
            <a:off x="777240" y="3383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" y="1554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83464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337560" y="3566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74320" y="50109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 PROFIT CONTRIBUTION  HIGH →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8288" y="1005840"/>
            <a:ext cx="228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GROWTH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GROWTH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480560" y="996696"/>
            <a:ext cx="43434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66344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709160" y="1508760"/>
            <a:ext cx="347472" cy="347472"/>
          </a:xfrm>
          <a:prstGeom prst="ellipse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545336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16636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leads with ₹3.8 Cr — 31% of total sales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709160" y="2057400"/>
            <a:ext cx="347472" cy="347472"/>
          </a:xfrm>
          <a:prstGeom prst="ellipse">
            <a:avLst/>
          </a:prstGeom>
          <a:solidFill>
            <a:srgbClr val="005C2B"/>
          </a:solidFill>
          <a:ln w="12700">
            <a:solidFill>
              <a:srgbClr val="005C2B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2093976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166360" y="2057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is the Cash Cow — stable volume, moderate margin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4709160" y="2606040"/>
            <a:ext cx="347472" cy="347472"/>
          </a:xfrm>
          <a:prstGeom prst="ellipse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2642616"/>
            <a:ext cx="274320" cy="2743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166360" y="2606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shows Star potential — high growth &amp; profit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4709160" y="3154680"/>
            <a:ext cx="347472" cy="347472"/>
          </a:xfrm>
          <a:prstGeom prst="ellipse">
            <a:avLst/>
          </a:prstGeom>
          <a:solidFill>
            <a:srgbClr val="005C2B"/>
          </a:solidFill>
          <a:ln w="12700">
            <a:solidFill>
              <a:srgbClr val="005C2B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3191256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16636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customers generate 2.3x higher avg. order value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709160" y="3703320"/>
            <a:ext cx="347472" cy="347472"/>
          </a:xfrm>
          <a:prstGeom prst="ellipse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5736" y="3739896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166360" y="3703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&gt;20% erode margins by 40% on Apparel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4709160" y="4251960"/>
            <a:ext cx="347472" cy="347472"/>
          </a:xfrm>
          <a:prstGeom prst="ellipse">
            <a:avLst/>
          </a:prstGeom>
          <a:solidFill>
            <a:srgbClr val="005C2B"/>
          </a:solidFill>
          <a:ln w="12700">
            <a:solidFill>
              <a:srgbClr val="005C2B"/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5736" y="4288536"/>
            <a:ext cx="274320" cy="27432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166360" y="4251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(UPI/Cards) dominate at 68% share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5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 &amp; Roadmap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Initiatives to Drive Profitable Growth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82880" y="1005840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789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11155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Targeting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4320" y="150876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West &amp; North with premium SKUs; develop East with value-tier products.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395728" y="1005840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0FFF0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8" y="107899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44368" y="11155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Discounting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2487168" y="150876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promotional discounts at 15%. Automate markdown rules using sales velocity data.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608576" y="1005840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E8F5EE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107899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57216" y="11155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700016" y="150876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ML models for seasonal inventory planning to cut overstock by 30%.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6821424" y="1005840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0FFF0"/>
          </a:solidFill>
          <a:ln w="12700">
            <a:solidFill>
              <a:srgbClr val="C8E6C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864" y="1078992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70064" y="111556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High-Margin Focus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912864" y="150876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Electronics &amp; Wellness category share by 8% in the product mix.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2743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274320" y="32918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33B56A"/>
          </a:solidFill>
          <a:ln w="12700">
            <a:solidFill>
              <a:srgbClr val="33B56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6576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365760" y="36758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Monitoring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6576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2240280" y="4069080"/>
            <a:ext cx="182880" cy="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423160" y="32918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00A84F"/>
          </a:solidFill>
          <a:ln w="12700">
            <a:solidFill>
              <a:srgbClr val="00A84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251460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2514600" y="36758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Models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251460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3-4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389120" y="4069080"/>
            <a:ext cx="182880" cy="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572000" y="32918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66344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663440" y="36758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Optimization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66344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5-6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537960" y="4069080"/>
            <a:ext cx="182880" cy="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720840" y="329184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005C2B"/>
          </a:solidFill>
          <a:ln w="12700">
            <a:solidFill>
              <a:srgbClr val="005C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6812280" y="3364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6812280" y="36758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681228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7+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E6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"Data-Driven Decisions Lead to Sustainable Retail Growth."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680</Words>
  <Application>Microsoft Office PowerPoint</Application>
  <PresentationFormat>On-screen Show (16:9)</PresentationFormat>
  <Paragraphs>133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D-Mart Sales Analytics</dc:title>
  <dc:subject>PptxGenJS Presentation</dc:subject>
  <dc:creator>PptxGenJS</dc:creator>
  <cp:lastModifiedBy>rohitmudimadau@outlook.com</cp:lastModifiedBy>
  <cp:revision>2</cp:revision>
  <dcterms:created xsi:type="dcterms:W3CDTF">2026-06-11T10:56:53Z</dcterms:created>
  <dcterms:modified xsi:type="dcterms:W3CDTF">2026-06-11T11:08:32Z</dcterms:modified>
</cp:coreProperties>
</file>