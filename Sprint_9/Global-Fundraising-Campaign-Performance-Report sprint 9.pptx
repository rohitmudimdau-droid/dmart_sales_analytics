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634058"/>
            <a:ext cx="929357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676549"/>
            <a:ext cx="121644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REPORT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957164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Fundraising Campaign Performance Report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305573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 Dashboard — A comprehensive review of campaign outcomes, platform effectiveness, donor engagement, and marketing ROI across global initiatives.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73684" y="403547"/>
            <a:ext cx="840209" cy="128439"/>
          </a:xfrm>
          <a:prstGeom prst="roundRect">
            <a:avLst>
              <a:gd name="adj" fmla="val 19702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23616" y="430857"/>
            <a:ext cx="1197546" cy="73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FRAMEWORK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1973684" y="547985"/>
            <a:ext cx="4220245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 &amp; Key Performance Indicators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684" y="888206"/>
            <a:ext cx="2506489" cy="25064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8589" y="1972419"/>
            <a:ext cx="1773957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Set Out to Measure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8589" y="2130028"/>
            <a:ext cx="250648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report evaluates three core dimensions of global fundraising performance to guide future strategy and resource allocation.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973684" y="3522241"/>
            <a:ext cx="2573313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$2.4B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789634" y="3838426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Fundraising Goal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973684" y="3980036"/>
            <a:ext cx="257331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across all categories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597003" y="3522241"/>
            <a:ext cx="2573313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$1.2B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412953" y="3838426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Amount Raised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97003" y="3980036"/>
            <a:ext cx="257331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contributions received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1973684" y="4189884"/>
            <a:ext cx="2573313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50.06%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2789634" y="4506069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Achievement Rate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973684" y="4647679"/>
            <a:ext cx="257331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vs. actual raised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597003" y="4189884"/>
            <a:ext cx="2573313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9.8M+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5412953" y="4506069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Donors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597003" y="4647679"/>
            <a:ext cx="257331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contributor base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8220"/>
            <a:ext cx="1365572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60710"/>
            <a:ext cx="165266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1325"/>
            <a:ext cx="67656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 vs. Amount Raised by Category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56383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386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001887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leads in absolute dollars raised at $280M, while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 Relief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shows the strongest achievement rate at 65%.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underperforms relative to its goal, signaling a need for targeted outreach.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068613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283669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231579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 Relief and Health demonstrate the highest fundraising potential and donor responsiveness across all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95883"/>
            <a:ext cx="1117178" cy="207690"/>
          </a:xfrm>
          <a:prstGeom prst="roundRect">
            <a:avLst>
              <a:gd name="adj" fmla="val 1899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92038" y="431081"/>
            <a:ext cx="1433587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&amp; STATUS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642417"/>
            <a:ext cx="5296272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Campaign Performance Overview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643" y="1252240"/>
            <a:ext cx="255991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Campaign Status Distribution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1544985"/>
            <a:ext cx="3907110" cy="28123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19861" y="1252240"/>
            <a:ext cx="3718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 Performance — Amount Raised ($M)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61" y="1544985"/>
            <a:ext cx="3907110" cy="28123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43" y="4575944"/>
            <a:ext cx="85578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GoFundMe dominates with 35% of total raised. 77% of campaigns are Active or Completed — a healthy operational pipeline.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410468"/>
            <a:ext cx="1487686" cy="197644"/>
          </a:xfrm>
          <a:prstGeom prst="roundRect">
            <a:avLst>
              <a:gd name="adj" fmla="val 1920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42206" y="444326"/>
            <a:ext cx="1809452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 &amp; GEOGRAPHY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4489" y="644054"/>
            <a:ext cx="670359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Organization &amp; Regional Fundraising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4489" y="1221953"/>
            <a:ext cx="355595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10 Organizations by Amount Raised ($M)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1499667"/>
            <a:ext cx="3759622" cy="27061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14503" y="1221953"/>
            <a:ext cx="235185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Fundraising by Region ($M)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03" y="1499667"/>
            <a:ext cx="3759622" cy="27061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4489" y="4408215"/>
            <a:ext cx="779494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America and Europe account for over 60% of total funds. Emerging markets in Asia and South America represent significant untapped potential.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8756"/>
            <a:ext cx="913879" cy="218033"/>
          </a:xfrm>
          <a:prstGeom prst="roundRect">
            <a:avLst>
              <a:gd name="adj" fmla="val 1877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69193" y="445294"/>
            <a:ext cx="1224930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ROI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68610"/>
            <a:ext cx="6685285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Marketing Spend vs. Fundraising Success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4049"/>
            <a:ext cx="3927277" cy="28268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5367" y="1310953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1080" y="1619027"/>
            <a:ext cx="3941564" cy="9295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4333" y="175513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Positive Correlation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904333" y="2050107"/>
            <a:ext cx="361220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marketing investment consistently drives greater fundraising returns across campaigns.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080" y="2653233"/>
            <a:ext cx="3941564" cy="9295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04333" y="278933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Diminishing Returns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904333" y="3084314"/>
            <a:ext cx="361220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$200K spend, incremental gains moderate — optimize rather than overspend.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1080" y="3687440"/>
            <a:ext cx="3941564" cy="9295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04333" y="382354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Allocation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904333" y="4118521"/>
            <a:ext cx="361220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Concentrating spend on Health and Disaster Relief yields the highest ROI.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0291"/>
            <a:ext cx="785813" cy="212824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67854" y="456158"/>
            <a:ext cx="109954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73447"/>
            <a:ext cx="5634782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Insights &amp; Strategic Takeaways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496119" y="1198587"/>
            <a:ext cx="2649959" cy="1484858"/>
          </a:xfrm>
          <a:prstGeom prst="roundRect">
            <a:avLst>
              <a:gd name="adj" fmla="val 338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464" y="1322933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138" y="1421606"/>
            <a:ext cx="161479" cy="1614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0464" y="1782663"/>
            <a:ext cx="194652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50.06% Achievement Rate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0464" y="2030016"/>
            <a:ext cx="240126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the goal met — significant room to scale with refined targeting.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983" y="1198587"/>
            <a:ext cx="2649959" cy="1484858"/>
          </a:xfrm>
          <a:prstGeom prst="roundRect">
            <a:avLst>
              <a:gd name="adj" fmla="val 338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71329" y="1322933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002" y="1421606"/>
            <a:ext cx="161479" cy="16147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1329" y="1782663"/>
            <a:ext cx="171829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9.8M+ Donors Engaged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371329" y="2030016"/>
            <a:ext cx="240126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massive global base — focus on retention and recurring giving.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97848" y="1198587"/>
            <a:ext cx="2649959" cy="1484858"/>
          </a:xfrm>
          <a:prstGeom prst="roundRect">
            <a:avLst>
              <a:gd name="adj" fmla="val 338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2194" y="1322933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867" y="1421606"/>
            <a:ext cx="161479" cy="16147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2194" y="1782663"/>
            <a:ext cx="182649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Marketing Drives Results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22194" y="2030016"/>
            <a:ext cx="240126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and fundraising outcomes are positively correlated — invest strategically.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96119" y="2784351"/>
            <a:ext cx="4025354" cy="1308497"/>
          </a:xfrm>
          <a:prstGeom prst="roundRect">
            <a:avLst>
              <a:gd name="adj" fmla="val 383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0464" y="2908697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138" y="3007370"/>
            <a:ext cx="161479" cy="16147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0464" y="3368427"/>
            <a:ext cx="210643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 Performance Varies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20464" y="3615779"/>
            <a:ext cx="37766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GoFundMe leads — align platform choice with campaign category and audience.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622378" y="2784351"/>
            <a:ext cx="4025429" cy="1308497"/>
          </a:xfrm>
          <a:prstGeom prst="roundRect">
            <a:avLst>
              <a:gd name="adj" fmla="val 383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46724" y="2908697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5397" y="3007370"/>
            <a:ext cx="161479" cy="16147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46724" y="3368427"/>
            <a:ext cx="189011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High-Potential Categories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746724" y="3615779"/>
            <a:ext cx="377673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 Relief and Health show the strongest donor response — prioritize these verticals.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96119" y="4206329"/>
            <a:ext cx="14288" cy="403324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31" name="Text 24"/>
          <p:cNvSpPr/>
          <p:nvPr/>
        </p:nvSpPr>
        <p:spPr>
          <a:xfrm>
            <a:off x="675531" y="4319811"/>
            <a:ext cx="842955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attention. Together, we build a more impactful future.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2026-06-20T16:22:47Z</dcterms:created>
  <dcterms:modified xsi:type="dcterms:W3CDTF">2026-06-20T16:22:47Z</dcterms:modified>
</cp:coreProperties>
</file>